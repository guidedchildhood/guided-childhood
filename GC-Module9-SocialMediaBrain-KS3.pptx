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2E7D5A">
              <a:alpha val="22000"/>
            </a:srgbClr>
          </a:solidFill>
          <a:ln w="12700">
            <a:solidFill>
              <a:srgbClr val="2E7D5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840480" cy="3840480"/>
          </a:xfrm>
          <a:prstGeom prst="ellipse">
            <a:avLst/>
          </a:prstGeom>
          <a:solidFill>
            <a:srgbClr val="AFDCA2">
              <a:alpha val="12000"/>
            </a:srgbClr>
          </a:solidFill>
          <a:ln w="12700">
            <a:solidFill>
              <a:srgbClr val="AFDCA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·  DIGITAL LITERACY  ·  YEAR 7–9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2296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5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Brain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PSHE  ·  Computing  ·  50 minutes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133088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2E7D5A">
              <a:alpha val="45000"/>
            </a:srgbClr>
          </a:solidFill>
          <a:ln w="10160">
            <a:solidFill>
              <a:srgbClr val="2E7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4151376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apps are designed to hold attention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4133088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2E7D5A">
              <a:alpha val="45000"/>
            </a:srgbClr>
          </a:solidFill>
          <a:ln w="10160">
            <a:solidFill>
              <a:srgbClr val="2E7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4151376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comparison trap and what drives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8776" y="4133088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2E7D5A">
              <a:alpha val="45000"/>
            </a:srgbClr>
          </a:solidFill>
          <a:ln w="10160">
            <a:solidFill>
              <a:srgbClr val="2E7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4151376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personal strategy before you leave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2E7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ACTIVITY  ·  0–5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begin.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229600" cy="36576"/>
          </a:xfrm>
          <a:prstGeom prst="rect">
            <a:avLst/>
          </a:prstGeom>
          <a:solidFill>
            <a:srgbClr val="D4C9B0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felt worse after scrolling — without knowing why?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7157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PUPILS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6118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last time you scrolled. Did your mood change afterwards?
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 — or write it on the slip of paper provided. We will not collect answers aloud. This is private recognition.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73168" y="2578608"/>
            <a:ext cx="3959352" cy="2103120"/>
          </a:xfrm>
          <a:prstGeom prst="roundRect">
            <a:avLst>
              <a:gd name="adj" fmla="val 4348"/>
            </a:avLst>
          </a:prstGeom>
          <a:solidFill>
            <a:srgbClr val="EEF7F2"/>
          </a:solidFill>
          <a:ln w="10160">
            <a:solidFill>
              <a:srgbClr val="AFDCA2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2715768"/>
            <a:ext cx="3593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56048" y="2971800"/>
            <a:ext cx="3593592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press for public answers.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after the question is the tool. Most pupils in the room have experienced this — the private recognition is the hook. Let it land before moving 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D4C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TEACHING 1  ·  5–20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Variable Reward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apps are hard to put down — and why that is by design, not personal weakness.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8229600" cy="36576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84832"/>
            <a:ext cx="2743200" cy="2633472"/>
          </a:xfrm>
          <a:prstGeom prst="roundRect">
            <a:avLst>
              <a:gd name="adj" fmla="val 2778"/>
            </a:avLst>
          </a:prstGeom>
          <a:solidFill>
            <a:srgbClr val="1A1A18"/>
          </a:solidFill>
          <a:ln w="12700">
            <a:solidFill>
              <a:srgbClr val="C045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2743200" cy="36576"/>
          </a:xfrm>
          <a:prstGeom prst="rect">
            <a:avLst/>
          </a:prstGeom>
          <a:solidFill>
            <a:srgbClr val="C0451A"/>
          </a:solidFill>
          <a:ln w="12700">
            <a:solidFill>
              <a:srgbClr val="C04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 REFRESH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slot machine pull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gesture of pulling down your feed is mechanically identical to pulling a slot machine handle. Same movement. Same anticipation. This was studied and copied intentionally.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5848" y="2084832"/>
            <a:ext cx="2743200" cy="2633472"/>
          </a:xfrm>
          <a:prstGeom prst="roundRect">
            <a:avLst>
              <a:gd name="adj" fmla="val 2778"/>
            </a:avLst>
          </a:prstGeom>
          <a:solidFill>
            <a:srgbClr val="1E1E1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2084832"/>
            <a:ext cx="274320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2176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REWARD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93008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Sometimes something. Sometimes nothing.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281635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reward is boring. An unpredictable one creates compulsion. Sometimes a like, sometimes a viral video, sometimes nothing. The unpredictability is the mechanism.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2084832"/>
            <a:ext cx="2743200" cy="2633472"/>
          </a:xfrm>
          <a:prstGeom prst="roundRect">
            <a:avLst>
              <a:gd name="adj" fmla="val 2778"/>
            </a:avLst>
          </a:prstGeom>
          <a:solidFill>
            <a:srgbClr val="0F1E15"/>
          </a:solidFill>
          <a:ln w="12700">
            <a:solidFill>
              <a:srgbClr val="AFDC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2084832"/>
            <a:ext cx="2743200" cy="36576"/>
          </a:xfrm>
          <a:prstGeom prst="rect">
            <a:avLst/>
          </a:prstGeom>
          <a:solidFill>
            <a:srgbClr val="AFDCA2"/>
          </a:solidFill>
          <a:ln w="12700">
            <a:solidFill>
              <a:srgbClr val="AFDC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176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DOPAMINE LOOP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45936" y="2450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Anticipation, not pleasure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5936" y="281635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releases in anticipation of a reward — not after it arrives. This is why you keep scrolling. The feeling of 'maybe something good is coming' is the loop.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773168"/>
            <a:ext cx="8229600" cy="256032"/>
          </a:xfrm>
          <a:prstGeom prst="roundRect">
            <a:avLst>
              <a:gd name="adj" fmla="val 14286"/>
            </a:avLst>
          </a:prstGeom>
          <a:solidFill>
            <a:srgbClr val="2E7D5A">
              <a:alpha val="30000"/>
            </a:srgbClr>
          </a:solidFill>
          <a:ln w="6350">
            <a:solidFill>
              <a:srgbClr val="2E7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731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·  The design is intentional. Finding it hard to stop is not a personal weakness — it is the intended outcome.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2E7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ACTIVITY  ·  5 MINUTES  ·  INDIVIDUAL THEN PAIR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your app.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app you use. Work through the four questions on your worksheet.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365760" cy="36576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993392"/>
            <a:ext cx="77266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993392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pull-to-refresh movement on this app?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365760" cy="36576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651760"/>
            <a:ext cx="77266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651760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unpredictable reward you might receive?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365760" cy="36576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310128"/>
            <a:ext cx="77266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310128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dopamine loop hit — when you open it, scroll, or wait for a notification?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005072"/>
            <a:ext cx="365760" cy="36576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3968496"/>
            <a:ext cx="77266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968496"/>
            <a:ext cx="7452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app gave you the exact same thing every time, would you use it as often? Why?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answers with the person next to you. Did you choose the same app? Same loop?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D4C9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TEACHING 2  ·  20–35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577840" y="475488"/>
            <a:ext cx="3154680" cy="1874520"/>
          </a:xfrm>
          <a:prstGeom prst="roundRect">
            <a:avLst>
              <a:gd name="adj" fmla="val 4878"/>
            </a:avLst>
          </a:prstGeom>
          <a:solidFill>
            <a:srgbClr val="0F2518"/>
          </a:solidFill>
          <a:ln w="10160">
            <a:solidFill>
              <a:srgbClr val="2E7D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42432" y="594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RESEARCH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742432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Amy Orben, MRC Cognition and Brain Sciences Unit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42432" y="1188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Girls: peak sensitivity 11–13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Boys: peak sensitivity 14–15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8229600" cy="36576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578608"/>
            <a:ext cx="2743200" cy="2578608"/>
          </a:xfrm>
          <a:prstGeom prst="roundRect">
            <a:avLst>
              <a:gd name="adj" fmla="val 2837"/>
            </a:avLst>
          </a:prstGeom>
          <a:solidFill>
            <a:srgbClr val="0F1E15"/>
          </a:solidFill>
          <a:ln w="6350">
            <a:solidFill>
              <a:srgbClr val="2E7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883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FEED SHOWS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highlight reel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45720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29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moments. Best angles. Best days. Every post is curated. Nobody posts their Tuesday afternoon. The feed is not life — it is the best-of compilation of life.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2578608"/>
            <a:ext cx="2743200" cy="2578608"/>
          </a:xfrm>
          <a:prstGeom prst="roundRect">
            <a:avLst>
              <a:gd name="adj" fmla="val 2837"/>
            </a:avLst>
          </a:prstGeom>
          <a:solidFill>
            <a:srgbClr val="0F1E15"/>
          </a:solidFill>
          <a:ln w="6350">
            <a:solidFill>
              <a:srgbClr val="2E7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26883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FEED HIDES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93008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93008" y="3328416"/>
            <a:ext cx="45720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429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47 photos taken before the one that went up. The argument that happened an hour before the squad photo. The insecurities behind the caption. All invisible.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8776" y="2578608"/>
            <a:ext cx="2743200" cy="2578608"/>
          </a:xfrm>
          <a:prstGeom prst="roundRect">
            <a:avLst>
              <a:gd name="adj" fmla="val 2837"/>
            </a:avLst>
          </a:prstGeom>
          <a:solidFill>
            <a:srgbClr val="0F1E15"/>
          </a:solidFill>
          <a:ln w="6350">
            <a:solidFill>
              <a:srgbClr val="2E7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6883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BRAIN DOES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45936" y="2944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Compares automatically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45936" y="3328416"/>
            <a:ext cx="45720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4290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1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compares your full behind-the-scenes reality against everyone else's edited highlight reel. Every scroll. Every time. Without being asked 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2E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ACTIVITY  ·  10 MINUTES  ·  PAIRS THEN CLASS SHARE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the feed.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44168"/>
            <a:ext cx="78638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sample feed on your worksheet (all posts are anonymised). Work through the tasks below.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66544"/>
            <a:ext cx="329184" cy="32918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78408" y="2011680"/>
            <a:ext cx="775411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1168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things this feed makes life look like.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329184" cy="32918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8408" y="2651760"/>
            <a:ext cx="775411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65176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things this feed does not show.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329184" cy="32918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" y="3291840"/>
            <a:ext cx="775411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29184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starting: "What this feed does not show is..."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986784"/>
            <a:ext cx="329184" cy="32918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" y="3931920"/>
            <a:ext cx="7754112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393192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sentence with your partner. Read two aloud to the class.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EDE8DF"/>
          </a:solidFill>
          <a:ln w="6350">
            <a:solidFill>
              <a:srgbClr val="D4C9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57200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8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"Nobody posts their Tuesday."  —  Remember this when you are scrolling tonight.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D4C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TEACHING  ·  OPTIONAL  ·  5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worth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93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reason to panic. A reason to pay attention.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36576" cy="320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505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drops after screens that last more than 20 minutes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614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in girls aged 11–13. Worth tracking, not diagnosing. (Orben, Cambridge MRC)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182112"/>
            <a:ext cx="36576" cy="320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72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phone first thing in the morning and last thing at night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notification anxiety loop. Platform design, not personality.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803904"/>
            <a:ext cx="36576" cy="320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interest in things you used to enjoy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screen-caused — but worth noticing when it coincides with increased use.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425696"/>
            <a:ext cx="36576" cy="320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159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Appearing worse after looking at someone's profile in particular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6268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Account-specific comparison is more significant than general scrolling.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2395728"/>
            <a:ext cx="2971800" cy="2633472"/>
          </a:xfrm>
          <a:prstGeom prst="roundRect">
            <a:avLst>
              <a:gd name="adj" fmla="val 3472"/>
            </a:avLst>
          </a:prstGeom>
          <a:solidFill>
            <a:srgbClr val="0F2518"/>
          </a:solidFill>
          <a:ln w="10160">
            <a:solidFill>
              <a:srgbClr val="2E7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25146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25312" y="2788920"/>
            <a:ext cx="2651760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Candace Odgers (UC Irvine):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depend on existing vulnerability, not just screen time.
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Amy Orben (Cambridge):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windows are age and gender specific. The same platform affects different children differently.
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Przybylski (Oxford):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timing matter more than restriction alone.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2E7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  ·  35–45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one strategy.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unknow what you now know about how these apps are designed. The question is what you do with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4114800" cy="4572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745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RULE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9224" y="211226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charges outside the bedroom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" y="2441448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1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single highest-impact change in all of the research. One action, tonight.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783080"/>
            <a:ext cx="4114800" cy="4572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8745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AUDIT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92624" y="211226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Unfollow three accounts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92624" y="2441448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1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Unfollow three accounts that consistently make you feel worse. You do not owe anyone your attention.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91840"/>
            <a:ext cx="4114800" cy="45720"/>
          </a:xfrm>
          <a:prstGeom prst="rect">
            <a:avLst/>
          </a:prstGeom>
          <a:solidFill>
            <a:srgbClr val="5A8A6A"/>
          </a:solidFill>
          <a:ln w="12700">
            <a:solidFill>
              <a:srgbClr val="5A8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3832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OFF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9224" y="362102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off one app's notifications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" y="3950208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1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check it on your terms, not when it calls you. Small action, significant shift in who is in control.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29184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91840"/>
            <a:ext cx="4114800" cy="45720"/>
          </a:xfrm>
          <a:prstGeom prst="rect">
            <a:avLst/>
          </a:prstGeom>
          <a:solidFill>
            <a:srgbClr val="C9962A"/>
          </a:solidFill>
          <a:ln w="12700">
            <a:solidFill>
              <a:srgbClr val="C996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33832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C9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PAUSE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92624" y="3621024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before you open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92624" y="3950208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1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opening an app, ask: what am I looking for? If you cannot answer, wait five minutes.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7316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77316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  ·  Complete the exit ticket on your worksheet. Circle your chosen strategy.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D4C9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FINAL 5 MINUTES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43200" cy="3218688"/>
          </a:xfrm>
          <a:prstGeom prst="roundRect">
            <a:avLst>
              <a:gd name="adj" fmla="val 2667"/>
            </a:avLst>
          </a:prstGeom>
          <a:solidFill>
            <a:srgbClr val="0F1E15"/>
          </a:solidFill>
          <a:ln w="12700">
            <a:solidFill>
              <a:srgbClr val="C04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743200" cy="45720"/>
          </a:xfrm>
          <a:prstGeom prst="rect">
            <a:avLst/>
          </a:prstGeom>
          <a:solidFill>
            <a:srgbClr val="C0451A"/>
          </a:solidFill>
          <a:ln w="12700">
            <a:solidFill>
              <a:srgbClr val="C04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DESIGN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"These apps are designed to...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72384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474720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877056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417320"/>
            <a:ext cx="2743200" cy="3218688"/>
          </a:xfrm>
          <a:prstGeom prst="roundRect">
            <a:avLst>
              <a:gd name="adj" fmla="val 2667"/>
            </a:avLst>
          </a:prstGeom>
          <a:solidFill>
            <a:srgbClr val="0F1E15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417320"/>
            <a:ext cx="274320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508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YOURSELF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93008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thing I noticed about my own habits is...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93008" y="2670048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3008" y="3072384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3474720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3008" y="3877056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417320"/>
            <a:ext cx="2743200" cy="3218688"/>
          </a:xfrm>
          <a:prstGeom prst="roundRect">
            <a:avLst>
              <a:gd name="adj" fmla="val 2667"/>
            </a:avLst>
          </a:prstGeom>
          <a:solidFill>
            <a:srgbClr val="0F1E15"/>
          </a:solidFill>
          <a:ln w="12700">
            <a:solidFill>
              <a:srgbClr val="AFDC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417320"/>
            <a:ext cx="2743200" cy="45720"/>
          </a:xfrm>
          <a:prstGeom prst="rect">
            <a:avLst/>
          </a:prstGeom>
          <a:solidFill>
            <a:srgbClr val="AFDCA2"/>
          </a:solidFill>
          <a:ln w="12700">
            <a:solidFill>
              <a:srgbClr val="AFDC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508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AFD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45936" y="1828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one thing I will try this week is...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45936" y="2670048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3072384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5936" y="3474720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3877056"/>
            <a:ext cx="2468880" cy="18288"/>
          </a:xfrm>
          <a:prstGeom prst="rect">
            <a:avLst/>
          </a:prstGeom>
          <a:solidFill>
            <a:srgbClr val="2E7D5A">
              <a:alpha val="50000"/>
            </a:srgbClr>
          </a:solidFill>
          <a:ln w="12700">
            <a:solidFill>
              <a:srgbClr val="2E7D5A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77316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0F2518"/>
          </a:solidFill>
          <a:ln w="6350">
            <a:solidFill>
              <a:srgbClr val="2E7D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77316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 your worksheet before you leave  ·  A take-home note for your parent or carer is attached to the back.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2E7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8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DSL  ·  NOT SHOWN TO PUPILS  ·  HIDE OR SKIP THIS SLIDE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3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23317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LESSON CAN SURFACE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9224" y="2587752"/>
            <a:ext cx="38221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may disclose concerning online experiences — contact with unknown adults, exposure to inappropriate content, or significant mood distress related to social media. The exit ticket and worksheet are identification tools.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224028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92624" y="233172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92624" y="2587752"/>
            <a:ext cx="38221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promise confidentiality. Listen, thank the pupil for sharing, and use the school's standard disclosure pathway. The no-blame script is in the Teacher Notes.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38404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DURING THE LESSON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9224" y="4096512"/>
            <a:ext cx="38221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go quiet during mood discussions, exit tickets with specific references to contacts or content, or requests to speak after the lesson.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749040"/>
            <a:ext cx="4114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27000" dist="50800" dir="3000000">
              <a:srgbClr val="1A1A18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8404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04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CONCERN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92624" y="4096512"/>
            <a:ext cx="38221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D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concern raised during or after this lesson should be logged in the DSL Safeguarding Concern Form (GC-DSL-001) before end of day.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8229600" cy="0"/>
          </a:xfrm>
          <a:prstGeom prst="line">
            <a:avLst/>
          </a:prstGeom>
          <a:noFill/>
          <a:ln w="6350">
            <a:solidFill>
              <a:srgbClr val="D4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474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Childhood  ·  Module 9  ·  Social Media and the Brain  ·  KS3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0" y="5047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guidedchildhood.co.uk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Guided Childhood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and the Brain — Module 9 KS3</dc:title>
  <dc:subject>PptxGenJS Presentation</dc:subject>
  <dc:creator>Guided Childhood</dc:creator>
  <cp:lastModifiedBy>Guided Childhood</cp:lastModifiedBy>
  <cp:revision>1</cp:revision>
  <dcterms:created xsi:type="dcterms:W3CDTF">2026-06-16T11:19:42Z</dcterms:created>
  <dcterms:modified xsi:type="dcterms:W3CDTF">2026-06-16T11:19:42Z</dcterms:modified>
</cp:coreProperties>
</file>